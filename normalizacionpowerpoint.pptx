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21006-20E9-4B22-9338-9453A6FFA160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99E4F-21B3-4C3F-9806-258E88D21E2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294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99E4F-21B3-4C3F-9806-258E88D21E27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5956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592C-42EB-4286-98FC-9623212C4CF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73A8-0B8C-4AB4-AA2A-E491E739E7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2042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592C-42EB-4286-98FC-9623212C4CF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73A8-0B8C-4AB4-AA2A-E491E739E7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1696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592C-42EB-4286-98FC-9623212C4CF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73A8-0B8C-4AB4-AA2A-E491E739E7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6746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592C-42EB-4286-98FC-9623212C4CF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73A8-0B8C-4AB4-AA2A-E491E739E7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5860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592C-42EB-4286-98FC-9623212C4CF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73A8-0B8C-4AB4-AA2A-E491E739E7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5764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592C-42EB-4286-98FC-9623212C4CF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73A8-0B8C-4AB4-AA2A-E491E739E7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517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592C-42EB-4286-98FC-9623212C4CF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73A8-0B8C-4AB4-AA2A-E491E739E7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0095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592C-42EB-4286-98FC-9623212C4CF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73A8-0B8C-4AB4-AA2A-E491E739E7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761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592C-42EB-4286-98FC-9623212C4CF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73A8-0B8C-4AB4-AA2A-E491E739E7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0616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592C-42EB-4286-98FC-9623212C4CF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73A8-0B8C-4AB4-AA2A-E491E739E7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0135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592C-42EB-4286-98FC-9623212C4CF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73A8-0B8C-4AB4-AA2A-E491E739E75E}" type="slidenum">
              <a:rPr lang="es-MX" smtClean="0"/>
              <a:t>‹Nº›</a:t>
            </a:fld>
            <a:endParaRPr lang="es-MX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5039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592C-42EB-4286-98FC-9623212C4CF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73A8-0B8C-4AB4-AA2A-E491E739E7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16537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592C-42EB-4286-98FC-9623212C4CF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73A8-0B8C-4AB4-AA2A-E491E739E75E}" type="slidenum">
              <a:rPr lang="es-MX" smtClean="0"/>
              <a:t>‹Nº›</a:t>
            </a:fld>
            <a:endParaRPr lang="es-MX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6806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592C-42EB-4286-98FC-9623212C4CF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73A8-0B8C-4AB4-AA2A-E491E739E7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7146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592C-42EB-4286-98FC-9623212C4CF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73A8-0B8C-4AB4-AA2A-E491E739E7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3654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592C-42EB-4286-98FC-9623212C4CF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73A8-0B8C-4AB4-AA2A-E491E739E7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9308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B592C-42EB-4286-98FC-9623212C4CF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33E73A8-0B8C-4AB4-AA2A-E491E739E7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2074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na@gmail.com" TargetMode="External"/><Relationship Id="rId2" Type="http://schemas.openxmlformats.org/officeDocument/2006/relationships/hyperlink" Target="mailto:juan@gmail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jeronimo@gmail.com" TargetMode="External"/><Relationship Id="rId5" Type="http://schemas.openxmlformats.org/officeDocument/2006/relationships/hyperlink" Target="mailto:sergio@gmail.com" TargetMode="External"/><Relationship Id="rId4" Type="http://schemas.openxmlformats.org/officeDocument/2006/relationships/hyperlink" Target="mailto:mariana@gmail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ana@gmail.com" TargetMode="External"/><Relationship Id="rId2" Type="http://schemas.openxmlformats.org/officeDocument/2006/relationships/hyperlink" Target="mailto:juan@gmail.com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mailto:jeronimo@gmail.com" TargetMode="External"/><Relationship Id="rId5" Type="http://schemas.openxmlformats.org/officeDocument/2006/relationships/hyperlink" Target="mailto:sergio@gmail.com" TargetMode="External"/><Relationship Id="rId4" Type="http://schemas.openxmlformats.org/officeDocument/2006/relationships/hyperlink" Target="mailto:mariana@gmail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ana@gmail.com" TargetMode="External"/><Relationship Id="rId2" Type="http://schemas.openxmlformats.org/officeDocument/2006/relationships/hyperlink" Target="mailto:juan@gmail.com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mailto:jeronimo@gmail.com" TargetMode="External"/><Relationship Id="rId5" Type="http://schemas.openxmlformats.org/officeDocument/2006/relationships/hyperlink" Target="mailto:sergio@gmail.com" TargetMode="External"/><Relationship Id="rId4" Type="http://schemas.openxmlformats.org/officeDocument/2006/relationships/hyperlink" Target="mailto:mariana@gmail.c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juan@gmail.com" TargetMode="External"/><Relationship Id="rId7" Type="http://schemas.openxmlformats.org/officeDocument/2006/relationships/hyperlink" Target="mailto:jeronimo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hyperlink" Target="mailto:sergio@gmail.com" TargetMode="External"/><Relationship Id="rId5" Type="http://schemas.openxmlformats.org/officeDocument/2006/relationships/hyperlink" Target="mailto:mariana@gmail.com" TargetMode="External"/><Relationship Id="rId4" Type="http://schemas.openxmlformats.org/officeDocument/2006/relationships/hyperlink" Target="mailto:ana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0362E3-9F8A-00F3-4CFF-98968A7AF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2809" y="66028"/>
            <a:ext cx="5092996" cy="860517"/>
          </a:xfrm>
        </p:spPr>
        <p:txBody>
          <a:bodyPr/>
          <a:lstStyle/>
          <a:p>
            <a:r>
              <a:rPr lang="es-MX" dirty="0"/>
              <a:t>Sin		normalizar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C52AD3-5EC6-8C32-D20F-106EF9783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1736" y="7485150"/>
            <a:ext cx="7766936" cy="45719"/>
          </a:xfrm>
        </p:spPr>
        <p:txBody>
          <a:bodyPr>
            <a:normAutofit fontScale="25000" lnSpcReduction="20000"/>
          </a:bodyPr>
          <a:lstStyle/>
          <a:p>
            <a:endParaRPr lang="es-MX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80787E21-07C0-2750-AF69-C72AE0143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068340"/>
              </p:ext>
            </p:extLst>
          </p:nvPr>
        </p:nvGraphicFramePr>
        <p:xfrm>
          <a:off x="0" y="1235555"/>
          <a:ext cx="12192000" cy="501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1106715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200456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02381158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8736893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42993988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06030344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80180198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10437126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03700103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5236012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177680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81776887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884055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8091552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38724932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05432033"/>
                    </a:ext>
                  </a:extLst>
                </a:gridCol>
              </a:tblGrid>
              <a:tr h="10243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id_usuario</a:t>
                      </a: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Apellido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Edad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Peso_Kg</a:t>
                      </a: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Altura_Cm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Fecha_Registro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Comida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Calorías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Proteínas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grasa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carbohidratos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Fecha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Cantidad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Objetivo</a:t>
                      </a:r>
                    </a:p>
                    <a:p>
                      <a:pPr algn="l" fontAlgn="b">
                        <a:buNone/>
                      </a:pP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45955631"/>
                  </a:ext>
                </a:extLst>
              </a:tr>
              <a:tr h="79777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Juan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Puertas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2"/>
                        </a:rPr>
                        <a:t>juan@gmail.com</a:t>
                      </a:r>
                      <a:endParaRPr lang="es-MX" sz="1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20-mar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Pollo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20-mar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Bajar peso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39136192"/>
                  </a:ext>
                </a:extLst>
              </a:tr>
              <a:tr h="79777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Horror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3"/>
                        </a:rPr>
                        <a:t>ana@gmail.com</a:t>
                      </a:r>
                      <a:endParaRPr lang="es-MX" sz="1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21-mar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Arroz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21-mar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Mantener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6361236"/>
                  </a:ext>
                </a:extLst>
              </a:tr>
              <a:tr h="79777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Mariana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Guadalupe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mariana@gmail.com</a:t>
                      </a:r>
                      <a:endParaRPr lang="es-MX" sz="1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23-mar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Huevo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23-mar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Subir Masa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34158836"/>
                  </a:ext>
                </a:extLst>
              </a:tr>
              <a:tr h="79777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Alejandro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Pérez, Dadora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sergio@gmail.com</a:t>
                      </a:r>
                      <a:endParaRPr lang="es-MX" sz="1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26-mar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Paella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26-mar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Bajar peso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2717593"/>
                  </a:ext>
                </a:extLst>
              </a:tr>
              <a:tr h="79777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Jeronimo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Castillo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6"/>
                        </a:rPr>
                        <a:t>jeronimo@gmail.com</a:t>
                      </a:r>
                      <a:endParaRPr lang="es-MX" sz="16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28-mar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28-mar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Subir Masa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58876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6350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7B94CA-C92B-3954-4350-41D76751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698" y="68853"/>
            <a:ext cx="7285712" cy="878958"/>
          </a:xfrm>
        </p:spPr>
        <p:txBody>
          <a:bodyPr>
            <a:normAutofit fontScale="90000"/>
          </a:bodyPr>
          <a:lstStyle/>
          <a:p>
            <a:r>
              <a:rPr lang="es-MX" dirty="0"/>
              <a:t> </a:t>
            </a:r>
            <a:r>
              <a:rPr lang="es-MX" sz="5300" dirty="0"/>
              <a:t>1. Primera forma normal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0A48C4D-A787-F722-00AA-DF41370EC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036497"/>
              </p:ext>
            </p:extLst>
          </p:nvPr>
        </p:nvGraphicFramePr>
        <p:xfrm>
          <a:off x="1" y="1307805"/>
          <a:ext cx="12191992" cy="482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176">
                  <a:extLst>
                    <a:ext uri="{9D8B030D-6E8A-4147-A177-3AD203B41FA5}">
                      <a16:colId xmlns:a16="http://schemas.microsoft.com/office/drawing/2014/main" val="3523693760"/>
                    </a:ext>
                  </a:extLst>
                </a:gridCol>
                <a:gridCol w="717176">
                  <a:extLst>
                    <a:ext uri="{9D8B030D-6E8A-4147-A177-3AD203B41FA5}">
                      <a16:colId xmlns:a16="http://schemas.microsoft.com/office/drawing/2014/main" val="508587685"/>
                    </a:ext>
                  </a:extLst>
                </a:gridCol>
                <a:gridCol w="717176">
                  <a:extLst>
                    <a:ext uri="{9D8B030D-6E8A-4147-A177-3AD203B41FA5}">
                      <a16:colId xmlns:a16="http://schemas.microsoft.com/office/drawing/2014/main" val="4113600180"/>
                    </a:ext>
                  </a:extLst>
                </a:gridCol>
                <a:gridCol w="717176">
                  <a:extLst>
                    <a:ext uri="{9D8B030D-6E8A-4147-A177-3AD203B41FA5}">
                      <a16:colId xmlns:a16="http://schemas.microsoft.com/office/drawing/2014/main" val="3159740947"/>
                    </a:ext>
                  </a:extLst>
                </a:gridCol>
                <a:gridCol w="717176">
                  <a:extLst>
                    <a:ext uri="{9D8B030D-6E8A-4147-A177-3AD203B41FA5}">
                      <a16:colId xmlns:a16="http://schemas.microsoft.com/office/drawing/2014/main" val="1141043289"/>
                    </a:ext>
                  </a:extLst>
                </a:gridCol>
                <a:gridCol w="717176">
                  <a:extLst>
                    <a:ext uri="{9D8B030D-6E8A-4147-A177-3AD203B41FA5}">
                      <a16:colId xmlns:a16="http://schemas.microsoft.com/office/drawing/2014/main" val="428386081"/>
                    </a:ext>
                  </a:extLst>
                </a:gridCol>
                <a:gridCol w="717176">
                  <a:extLst>
                    <a:ext uri="{9D8B030D-6E8A-4147-A177-3AD203B41FA5}">
                      <a16:colId xmlns:a16="http://schemas.microsoft.com/office/drawing/2014/main" val="1672759041"/>
                    </a:ext>
                  </a:extLst>
                </a:gridCol>
                <a:gridCol w="717176">
                  <a:extLst>
                    <a:ext uri="{9D8B030D-6E8A-4147-A177-3AD203B41FA5}">
                      <a16:colId xmlns:a16="http://schemas.microsoft.com/office/drawing/2014/main" val="3124968693"/>
                    </a:ext>
                  </a:extLst>
                </a:gridCol>
                <a:gridCol w="717176">
                  <a:extLst>
                    <a:ext uri="{9D8B030D-6E8A-4147-A177-3AD203B41FA5}">
                      <a16:colId xmlns:a16="http://schemas.microsoft.com/office/drawing/2014/main" val="1735723950"/>
                    </a:ext>
                  </a:extLst>
                </a:gridCol>
                <a:gridCol w="717176">
                  <a:extLst>
                    <a:ext uri="{9D8B030D-6E8A-4147-A177-3AD203B41FA5}">
                      <a16:colId xmlns:a16="http://schemas.microsoft.com/office/drawing/2014/main" val="3471096370"/>
                    </a:ext>
                  </a:extLst>
                </a:gridCol>
                <a:gridCol w="717176">
                  <a:extLst>
                    <a:ext uri="{9D8B030D-6E8A-4147-A177-3AD203B41FA5}">
                      <a16:colId xmlns:a16="http://schemas.microsoft.com/office/drawing/2014/main" val="3810557"/>
                    </a:ext>
                  </a:extLst>
                </a:gridCol>
                <a:gridCol w="717176">
                  <a:extLst>
                    <a:ext uri="{9D8B030D-6E8A-4147-A177-3AD203B41FA5}">
                      <a16:colId xmlns:a16="http://schemas.microsoft.com/office/drawing/2014/main" val="1459237998"/>
                    </a:ext>
                  </a:extLst>
                </a:gridCol>
                <a:gridCol w="717176">
                  <a:extLst>
                    <a:ext uri="{9D8B030D-6E8A-4147-A177-3AD203B41FA5}">
                      <a16:colId xmlns:a16="http://schemas.microsoft.com/office/drawing/2014/main" val="3871631672"/>
                    </a:ext>
                  </a:extLst>
                </a:gridCol>
                <a:gridCol w="717176">
                  <a:extLst>
                    <a:ext uri="{9D8B030D-6E8A-4147-A177-3AD203B41FA5}">
                      <a16:colId xmlns:a16="http://schemas.microsoft.com/office/drawing/2014/main" val="1969236877"/>
                    </a:ext>
                  </a:extLst>
                </a:gridCol>
                <a:gridCol w="717176">
                  <a:extLst>
                    <a:ext uri="{9D8B030D-6E8A-4147-A177-3AD203B41FA5}">
                      <a16:colId xmlns:a16="http://schemas.microsoft.com/office/drawing/2014/main" val="2171054487"/>
                    </a:ext>
                  </a:extLst>
                </a:gridCol>
                <a:gridCol w="717176">
                  <a:extLst>
                    <a:ext uri="{9D8B030D-6E8A-4147-A177-3AD203B41FA5}">
                      <a16:colId xmlns:a16="http://schemas.microsoft.com/office/drawing/2014/main" val="2051270322"/>
                    </a:ext>
                  </a:extLst>
                </a:gridCol>
                <a:gridCol w="717176">
                  <a:extLst>
                    <a:ext uri="{9D8B030D-6E8A-4147-A177-3AD203B41FA5}">
                      <a16:colId xmlns:a16="http://schemas.microsoft.com/office/drawing/2014/main" val="1816329182"/>
                    </a:ext>
                  </a:extLst>
                </a:gridCol>
              </a:tblGrid>
              <a:tr h="9863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id_usuario</a:t>
                      </a: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Apellido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Apellido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Edad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Peso_Kg</a:t>
                      </a: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Altura_Cm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Fecha_Registro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Comida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Calorías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Proteínas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grasa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carbohidratos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Fecha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Cantidad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Objetivo</a:t>
                      </a:r>
                    </a:p>
                    <a:p>
                      <a:pPr algn="l" fontAlgn="b">
                        <a:buNone/>
                      </a:pP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33517835"/>
                  </a:ext>
                </a:extLst>
              </a:tr>
              <a:tr h="76817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Juan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Puertas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2"/>
                        </a:rPr>
                        <a:t>juan@gmail.com</a:t>
                      </a:r>
                      <a:endParaRPr lang="es-MX" sz="1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20-mar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Pollo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20-mar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Bajar peso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09041868"/>
                  </a:ext>
                </a:extLst>
              </a:tr>
              <a:tr h="76817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Horror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3"/>
                        </a:rPr>
                        <a:t>ana@gmail.com</a:t>
                      </a:r>
                      <a:endParaRPr lang="es-MX" sz="1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21-mar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Arroz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21-mar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Mantener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3037628"/>
                  </a:ext>
                </a:extLst>
              </a:tr>
              <a:tr h="76817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Mariana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Guadalupe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mariana@gmail.com</a:t>
                      </a:r>
                      <a:endParaRPr lang="es-MX" sz="1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23-mar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Huevo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23-mar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Subir Masa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7180970"/>
                  </a:ext>
                </a:extLst>
              </a:tr>
              <a:tr h="76817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Alejandro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Pérez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Dadora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sergio@gmail.com</a:t>
                      </a:r>
                      <a:endParaRPr lang="es-MX" sz="1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26-mar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Paella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26-mar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Bajar peso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0648493"/>
                  </a:ext>
                </a:extLst>
              </a:tr>
              <a:tr h="76817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Jeronimo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Castillo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6"/>
                        </a:rPr>
                        <a:t>jeronimo@gmail.com</a:t>
                      </a:r>
                      <a:endParaRPr lang="es-MX" sz="16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28-mar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28-mar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Subir Masa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83037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068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B9C609-7356-4136-F8B9-B6F53CAF2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4747" y="40763"/>
            <a:ext cx="7095065" cy="847060"/>
          </a:xfrm>
        </p:spPr>
        <p:txBody>
          <a:bodyPr>
            <a:normAutofit/>
          </a:bodyPr>
          <a:lstStyle/>
          <a:p>
            <a:r>
              <a:rPr lang="es-MX" sz="4800" dirty="0"/>
              <a:t>2.Segunda forma normal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CCEFB52-8018-6919-8086-83DE1B810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825981"/>
              </p:ext>
            </p:extLst>
          </p:nvPr>
        </p:nvGraphicFramePr>
        <p:xfrm>
          <a:off x="710807" y="1090326"/>
          <a:ext cx="10302947" cy="2983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115">
                  <a:extLst>
                    <a:ext uri="{9D8B030D-6E8A-4147-A177-3AD203B41FA5}">
                      <a16:colId xmlns:a16="http://schemas.microsoft.com/office/drawing/2014/main" val="1711564992"/>
                    </a:ext>
                  </a:extLst>
                </a:gridCol>
                <a:gridCol w="1179678">
                  <a:extLst>
                    <a:ext uri="{9D8B030D-6E8A-4147-A177-3AD203B41FA5}">
                      <a16:colId xmlns:a16="http://schemas.microsoft.com/office/drawing/2014/main" val="1698695285"/>
                    </a:ext>
                  </a:extLst>
                </a:gridCol>
                <a:gridCol w="1179678">
                  <a:extLst>
                    <a:ext uri="{9D8B030D-6E8A-4147-A177-3AD203B41FA5}">
                      <a16:colId xmlns:a16="http://schemas.microsoft.com/office/drawing/2014/main" val="820558923"/>
                    </a:ext>
                  </a:extLst>
                </a:gridCol>
                <a:gridCol w="1179678">
                  <a:extLst>
                    <a:ext uri="{9D8B030D-6E8A-4147-A177-3AD203B41FA5}">
                      <a16:colId xmlns:a16="http://schemas.microsoft.com/office/drawing/2014/main" val="3368777208"/>
                    </a:ext>
                  </a:extLst>
                </a:gridCol>
                <a:gridCol w="971633">
                  <a:extLst>
                    <a:ext uri="{9D8B030D-6E8A-4147-A177-3AD203B41FA5}">
                      <a16:colId xmlns:a16="http://schemas.microsoft.com/office/drawing/2014/main" val="1883368770"/>
                    </a:ext>
                  </a:extLst>
                </a:gridCol>
                <a:gridCol w="971633">
                  <a:extLst>
                    <a:ext uri="{9D8B030D-6E8A-4147-A177-3AD203B41FA5}">
                      <a16:colId xmlns:a16="http://schemas.microsoft.com/office/drawing/2014/main" val="2651297310"/>
                    </a:ext>
                  </a:extLst>
                </a:gridCol>
                <a:gridCol w="971633">
                  <a:extLst>
                    <a:ext uri="{9D8B030D-6E8A-4147-A177-3AD203B41FA5}">
                      <a16:colId xmlns:a16="http://schemas.microsoft.com/office/drawing/2014/main" val="3479154267"/>
                    </a:ext>
                  </a:extLst>
                </a:gridCol>
                <a:gridCol w="971633">
                  <a:extLst>
                    <a:ext uri="{9D8B030D-6E8A-4147-A177-3AD203B41FA5}">
                      <a16:colId xmlns:a16="http://schemas.microsoft.com/office/drawing/2014/main" val="153054890"/>
                    </a:ext>
                  </a:extLst>
                </a:gridCol>
                <a:gridCol w="971633">
                  <a:extLst>
                    <a:ext uri="{9D8B030D-6E8A-4147-A177-3AD203B41FA5}">
                      <a16:colId xmlns:a16="http://schemas.microsoft.com/office/drawing/2014/main" val="1817584006"/>
                    </a:ext>
                  </a:extLst>
                </a:gridCol>
                <a:gridCol w="971633">
                  <a:extLst>
                    <a:ext uri="{9D8B030D-6E8A-4147-A177-3AD203B41FA5}">
                      <a16:colId xmlns:a16="http://schemas.microsoft.com/office/drawing/2014/main" val="2064558783"/>
                    </a:ext>
                  </a:extLst>
                </a:gridCol>
              </a:tblGrid>
              <a:tr h="347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id_usuario</a:t>
                      </a: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Apellido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Apellido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Objetivo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Edad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Peso_Kg</a:t>
                      </a: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Altura_Cm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Fecha_Registro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60262547"/>
                  </a:ext>
                </a:extLst>
              </a:tr>
              <a:tr h="34707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Juan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Puertas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Bajar peso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2"/>
                        </a:rPr>
                        <a:t>juan@gmail.com</a:t>
                      </a:r>
                      <a:endParaRPr lang="es-MX" sz="1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20-mar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71642654"/>
                  </a:ext>
                </a:extLst>
              </a:tr>
              <a:tr h="34707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Horror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3"/>
                        </a:rPr>
                        <a:t>ana@gmail.com</a:t>
                      </a:r>
                      <a:endParaRPr lang="es-MX" sz="1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21-mar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43769256"/>
                  </a:ext>
                </a:extLst>
              </a:tr>
              <a:tr h="34707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Mariana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Guadalupe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Subir Masa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mariana@gmail.com</a:t>
                      </a:r>
                      <a:endParaRPr lang="es-MX" sz="1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23-mar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7086611"/>
                  </a:ext>
                </a:extLst>
              </a:tr>
              <a:tr h="34707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Alejandro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Pérez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Dadora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Bajar peso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sergio@gmail.com</a:t>
                      </a:r>
                      <a:endParaRPr lang="es-MX" sz="1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26-mar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7332307"/>
                  </a:ext>
                </a:extLst>
              </a:tr>
              <a:tr h="34707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Jeronimo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Castillo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Subir Masa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6"/>
                        </a:rPr>
                        <a:t>jeronimo@gmail.com</a:t>
                      </a:r>
                      <a:endParaRPr lang="es-MX" sz="16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28-mar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4617462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9BE8AF0-9AB3-07EA-2103-127DACD39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460745"/>
              </p:ext>
            </p:extLst>
          </p:nvPr>
        </p:nvGraphicFramePr>
        <p:xfrm>
          <a:off x="221673" y="4276059"/>
          <a:ext cx="677487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7198">
                  <a:extLst>
                    <a:ext uri="{9D8B030D-6E8A-4147-A177-3AD203B41FA5}">
                      <a16:colId xmlns:a16="http://schemas.microsoft.com/office/drawing/2014/main" val="649078504"/>
                    </a:ext>
                  </a:extLst>
                </a:gridCol>
                <a:gridCol w="982025">
                  <a:extLst>
                    <a:ext uri="{9D8B030D-6E8A-4147-A177-3AD203B41FA5}">
                      <a16:colId xmlns:a16="http://schemas.microsoft.com/office/drawing/2014/main" val="2523705584"/>
                    </a:ext>
                  </a:extLst>
                </a:gridCol>
                <a:gridCol w="1048229">
                  <a:extLst>
                    <a:ext uri="{9D8B030D-6E8A-4147-A177-3AD203B41FA5}">
                      <a16:colId xmlns:a16="http://schemas.microsoft.com/office/drawing/2014/main" val="626755847"/>
                    </a:ext>
                  </a:extLst>
                </a:gridCol>
                <a:gridCol w="1180636">
                  <a:extLst>
                    <a:ext uri="{9D8B030D-6E8A-4147-A177-3AD203B41FA5}">
                      <a16:colId xmlns:a16="http://schemas.microsoft.com/office/drawing/2014/main" val="978264119"/>
                    </a:ext>
                  </a:extLst>
                </a:gridCol>
                <a:gridCol w="1103399">
                  <a:extLst>
                    <a:ext uri="{9D8B030D-6E8A-4147-A177-3AD203B41FA5}">
                      <a16:colId xmlns:a16="http://schemas.microsoft.com/office/drawing/2014/main" val="2544600762"/>
                    </a:ext>
                  </a:extLst>
                </a:gridCol>
                <a:gridCol w="1423386">
                  <a:extLst>
                    <a:ext uri="{9D8B030D-6E8A-4147-A177-3AD203B41FA5}">
                      <a16:colId xmlns:a16="http://schemas.microsoft.com/office/drawing/2014/main" val="22081867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id_alimento</a:t>
                      </a: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calorias</a:t>
                      </a: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proteinas</a:t>
                      </a: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grasa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carbohidratos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1807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Arroz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1204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Pollo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8589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Huevo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6185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Paella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78853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68484635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CFB1743-FD1B-ABBE-7AA2-E7558F03A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082030"/>
              </p:ext>
            </p:extLst>
          </p:nvPr>
        </p:nvGraphicFramePr>
        <p:xfrm>
          <a:off x="7141534" y="4276059"/>
          <a:ext cx="4635796" cy="1925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949">
                  <a:extLst>
                    <a:ext uri="{9D8B030D-6E8A-4147-A177-3AD203B41FA5}">
                      <a16:colId xmlns:a16="http://schemas.microsoft.com/office/drawing/2014/main" val="1517291233"/>
                    </a:ext>
                  </a:extLst>
                </a:gridCol>
                <a:gridCol w="1158949">
                  <a:extLst>
                    <a:ext uri="{9D8B030D-6E8A-4147-A177-3AD203B41FA5}">
                      <a16:colId xmlns:a16="http://schemas.microsoft.com/office/drawing/2014/main" val="883759613"/>
                    </a:ext>
                  </a:extLst>
                </a:gridCol>
                <a:gridCol w="1158949">
                  <a:extLst>
                    <a:ext uri="{9D8B030D-6E8A-4147-A177-3AD203B41FA5}">
                      <a16:colId xmlns:a16="http://schemas.microsoft.com/office/drawing/2014/main" val="1344122080"/>
                    </a:ext>
                  </a:extLst>
                </a:gridCol>
                <a:gridCol w="1158949">
                  <a:extLst>
                    <a:ext uri="{9D8B030D-6E8A-4147-A177-3AD203B41FA5}">
                      <a16:colId xmlns:a16="http://schemas.microsoft.com/office/drawing/2014/main" val="3786081630"/>
                    </a:ext>
                  </a:extLst>
                </a:gridCol>
              </a:tblGrid>
              <a:tr h="3209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id_usuario</a:t>
                      </a:r>
                      <a:endParaRPr lang="es-MX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id_comida</a:t>
                      </a:r>
                      <a:endParaRPr lang="es-MX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fecha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cantidad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16070545"/>
                  </a:ext>
                </a:extLst>
              </a:tr>
              <a:tr h="3209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20-mar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79130868"/>
                  </a:ext>
                </a:extLst>
              </a:tr>
              <a:tr h="3209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21-mar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1923034"/>
                  </a:ext>
                </a:extLst>
              </a:tr>
              <a:tr h="3209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23-mar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3172871"/>
                  </a:ext>
                </a:extLst>
              </a:tr>
              <a:tr h="3209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26-mar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6198101"/>
                  </a:ext>
                </a:extLst>
              </a:tr>
              <a:tr h="3209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28-mar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60570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964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476E98-9726-34B5-BA49-5EDFEDA0C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3603" y="0"/>
            <a:ext cx="6871783" cy="845011"/>
          </a:xfrm>
        </p:spPr>
        <p:txBody>
          <a:bodyPr>
            <a:normAutofit/>
          </a:bodyPr>
          <a:lstStyle/>
          <a:p>
            <a:r>
              <a:rPr lang="es-MX" sz="4800" dirty="0"/>
              <a:t>3.Tercera forma normal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1E7A036-CFE5-2346-19F7-D6ED3A874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056459"/>
              </p:ext>
            </p:extLst>
          </p:nvPr>
        </p:nvGraphicFramePr>
        <p:xfrm>
          <a:off x="305361" y="3647402"/>
          <a:ext cx="11581278" cy="304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56">
                  <a:extLst>
                    <a:ext uri="{9D8B030D-6E8A-4147-A177-3AD203B41FA5}">
                      <a16:colId xmlns:a16="http://schemas.microsoft.com/office/drawing/2014/main" val="1056641173"/>
                    </a:ext>
                  </a:extLst>
                </a:gridCol>
                <a:gridCol w="1164308">
                  <a:extLst>
                    <a:ext uri="{9D8B030D-6E8A-4147-A177-3AD203B41FA5}">
                      <a16:colId xmlns:a16="http://schemas.microsoft.com/office/drawing/2014/main" val="2353833368"/>
                    </a:ext>
                  </a:extLst>
                </a:gridCol>
                <a:gridCol w="1164314">
                  <a:extLst>
                    <a:ext uri="{9D8B030D-6E8A-4147-A177-3AD203B41FA5}">
                      <a16:colId xmlns:a16="http://schemas.microsoft.com/office/drawing/2014/main" val="2230070498"/>
                    </a:ext>
                  </a:extLst>
                </a:gridCol>
                <a:gridCol w="1009756">
                  <a:extLst>
                    <a:ext uri="{9D8B030D-6E8A-4147-A177-3AD203B41FA5}">
                      <a16:colId xmlns:a16="http://schemas.microsoft.com/office/drawing/2014/main" val="96738608"/>
                    </a:ext>
                  </a:extLst>
                </a:gridCol>
                <a:gridCol w="1205524">
                  <a:extLst>
                    <a:ext uri="{9D8B030D-6E8A-4147-A177-3AD203B41FA5}">
                      <a16:colId xmlns:a16="http://schemas.microsoft.com/office/drawing/2014/main" val="1763121760"/>
                    </a:ext>
                  </a:extLst>
                </a:gridCol>
                <a:gridCol w="1205524">
                  <a:extLst>
                    <a:ext uri="{9D8B030D-6E8A-4147-A177-3AD203B41FA5}">
                      <a16:colId xmlns:a16="http://schemas.microsoft.com/office/drawing/2014/main" val="271151376"/>
                    </a:ext>
                  </a:extLst>
                </a:gridCol>
                <a:gridCol w="1205524">
                  <a:extLst>
                    <a:ext uri="{9D8B030D-6E8A-4147-A177-3AD203B41FA5}">
                      <a16:colId xmlns:a16="http://schemas.microsoft.com/office/drawing/2014/main" val="1204870610"/>
                    </a:ext>
                  </a:extLst>
                </a:gridCol>
                <a:gridCol w="1205524">
                  <a:extLst>
                    <a:ext uri="{9D8B030D-6E8A-4147-A177-3AD203B41FA5}">
                      <a16:colId xmlns:a16="http://schemas.microsoft.com/office/drawing/2014/main" val="615144694"/>
                    </a:ext>
                  </a:extLst>
                </a:gridCol>
                <a:gridCol w="1205524">
                  <a:extLst>
                    <a:ext uri="{9D8B030D-6E8A-4147-A177-3AD203B41FA5}">
                      <a16:colId xmlns:a16="http://schemas.microsoft.com/office/drawing/2014/main" val="3003629369"/>
                    </a:ext>
                  </a:extLst>
                </a:gridCol>
                <a:gridCol w="1205524">
                  <a:extLst>
                    <a:ext uri="{9D8B030D-6E8A-4147-A177-3AD203B41FA5}">
                      <a16:colId xmlns:a16="http://schemas.microsoft.com/office/drawing/2014/main" val="1707089364"/>
                    </a:ext>
                  </a:extLst>
                </a:gridCol>
              </a:tblGrid>
              <a:tr h="5302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id_usuario</a:t>
                      </a: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Apellido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Apellido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  <a:p>
                      <a:pPr algn="ctr" fontAlgn="b">
                        <a:buNone/>
                      </a:pP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Edad</a:t>
                      </a:r>
                    </a:p>
                    <a:p>
                      <a:pPr algn="ctr" fontAlgn="b">
                        <a:buNone/>
                      </a:pP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Peso_Kg</a:t>
                      </a: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>
                        <a:buNone/>
                      </a:pP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Altura_Cm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Fecha_Registro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Objetivo</a:t>
                      </a:r>
                    </a:p>
                    <a:p>
                      <a:pPr algn="l" fontAlgn="b">
                        <a:buNone/>
                      </a:pP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873894"/>
                  </a:ext>
                </a:extLst>
              </a:tr>
              <a:tr h="45524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Juan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Puertas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3"/>
                        </a:rPr>
                        <a:t>juan@gmail.com</a:t>
                      </a:r>
                      <a:endParaRPr lang="es-MX" sz="1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20-mar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Bajar peso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11378484"/>
                  </a:ext>
                </a:extLst>
              </a:tr>
              <a:tr h="45524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Horror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ana@gmail.com</a:t>
                      </a:r>
                      <a:endParaRPr lang="es-MX" sz="1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21-mar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Mantener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42503148"/>
                  </a:ext>
                </a:extLst>
              </a:tr>
              <a:tr h="45524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Mariana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Guadalupe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mariana@gmail.com</a:t>
                      </a:r>
                      <a:endParaRPr lang="es-MX" sz="1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23-mar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Subir Masa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69008585"/>
                  </a:ext>
                </a:extLst>
              </a:tr>
              <a:tr h="45524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Alejandro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Pérez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Dadora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6"/>
                        </a:rPr>
                        <a:t>sergio@gmail.com</a:t>
                      </a:r>
                      <a:endParaRPr lang="es-MX" sz="16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26-mar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Bajar peso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39408413"/>
                  </a:ext>
                </a:extLst>
              </a:tr>
              <a:tr h="52502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Jeronimo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Castillo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7"/>
                        </a:rPr>
                        <a:t>jeronimo@gmail.com</a:t>
                      </a:r>
                      <a:endParaRPr lang="es-MX" sz="16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28-mar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Subir Masa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99176718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B0906D4B-4844-016D-7C7E-4ED4946B3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713575"/>
              </p:ext>
            </p:extLst>
          </p:nvPr>
        </p:nvGraphicFramePr>
        <p:xfrm>
          <a:off x="7492072" y="964020"/>
          <a:ext cx="4699928" cy="2371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790">
                  <a:extLst>
                    <a:ext uri="{9D8B030D-6E8A-4147-A177-3AD203B41FA5}">
                      <a16:colId xmlns:a16="http://schemas.microsoft.com/office/drawing/2014/main" val="3745705690"/>
                    </a:ext>
                  </a:extLst>
                </a:gridCol>
                <a:gridCol w="704102">
                  <a:extLst>
                    <a:ext uri="{9D8B030D-6E8A-4147-A177-3AD203B41FA5}">
                      <a16:colId xmlns:a16="http://schemas.microsoft.com/office/drawing/2014/main" val="4078867673"/>
                    </a:ext>
                  </a:extLst>
                </a:gridCol>
                <a:gridCol w="725663">
                  <a:extLst>
                    <a:ext uri="{9D8B030D-6E8A-4147-A177-3AD203B41FA5}">
                      <a16:colId xmlns:a16="http://schemas.microsoft.com/office/drawing/2014/main" val="3005099396"/>
                    </a:ext>
                  </a:extLst>
                </a:gridCol>
                <a:gridCol w="798791">
                  <a:extLst>
                    <a:ext uri="{9D8B030D-6E8A-4147-A177-3AD203B41FA5}">
                      <a16:colId xmlns:a16="http://schemas.microsoft.com/office/drawing/2014/main" val="2762788331"/>
                    </a:ext>
                  </a:extLst>
                </a:gridCol>
                <a:gridCol w="798791">
                  <a:extLst>
                    <a:ext uri="{9D8B030D-6E8A-4147-A177-3AD203B41FA5}">
                      <a16:colId xmlns:a16="http://schemas.microsoft.com/office/drawing/2014/main" val="1404696548"/>
                    </a:ext>
                  </a:extLst>
                </a:gridCol>
                <a:gridCol w="798791">
                  <a:extLst>
                    <a:ext uri="{9D8B030D-6E8A-4147-A177-3AD203B41FA5}">
                      <a16:colId xmlns:a16="http://schemas.microsoft.com/office/drawing/2014/main" val="4022136871"/>
                    </a:ext>
                  </a:extLst>
                </a:gridCol>
              </a:tblGrid>
              <a:tr h="5013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id_alimento</a:t>
                      </a: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calorias</a:t>
                      </a: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proteinas</a:t>
                      </a:r>
                      <a:endParaRPr lang="es-MX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grasa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carbohidratos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7106549"/>
                  </a:ext>
                </a:extLst>
              </a:tr>
              <a:tr h="37395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Arroz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50025928"/>
                  </a:ext>
                </a:extLst>
              </a:tr>
              <a:tr h="37395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Pollo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9738998"/>
                  </a:ext>
                </a:extLst>
              </a:tr>
              <a:tr h="37395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Huevo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08131802"/>
                  </a:ext>
                </a:extLst>
              </a:tr>
              <a:tr h="37395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Paella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56993324"/>
                  </a:ext>
                </a:extLst>
              </a:tr>
              <a:tr h="37395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2756684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7B294F4B-1E2A-A21E-A8A1-6A76416EC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024842"/>
              </p:ext>
            </p:extLst>
          </p:nvPr>
        </p:nvGraphicFramePr>
        <p:xfrm>
          <a:off x="0" y="964020"/>
          <a:ext cx="4031676" cy="2564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892">
                  <a:extLst>
                    <a:ext uri="{9D8B030D-6E8A-4147-A177-3AD203B41FA5}">
                      <a16:colId xmlns:a16="http://schemas.microsoft.com/office/drawing/2014/main" val="2753510327"/>
                    </a:ext>
                  </a:extLst>
                </a:gridCol>
                <a:gridCol w="1343892">
                  <a:extLst>
                    <a:ext uri="{9D8B030D-6E8A-4147-A177-3AD203B41FA5}">
                      <a16:colId xmlns:a16="http://schemas.microsoft.com/office/drawing/2014/main" val="363667900"/>
                    </a:ext>
                  </a:extLst>
                </a:gridCol>
                <a:gridCol w="1343892">
                  <a:extLst>
                    <a:ext uri="{9D8B030D-6E8A-4147-A177-3AD203B41FA5}">
                      <a16:colId xmlns:a16="http://schemas.microsoft.com/office/drawing/2014/main" val="1152433750"/>
                    </a:ext>
                  </a:extLst>
                </a:gridCol>
              </a:tblGrid>
              <a:tr h="4108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b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Id_Registro</a:t>
                      </a:r>
                      <a:endParaRPr lang="es-MX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Id_Usuario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b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Fecha_Registro</a:t>
                      </a:r>
                      <a:endParaRPr lang="es-MX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140265655"/>
                  </a:ext>
                </a:extLst>
              </a:tr>
              <a:tr h="4108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20-mar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438086428"/>
                  </a:ext>
                </a:extLst>
              </a:tr>
              <a:tr h="4108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s-MX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21-mar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377012985"/>
                  </a:ext>
                </a:extLst>
              </a:tr>
              <a:tr h="4108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s-MX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23-mar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352945387"/>
                  </a:ext>
                </a:extLst>
              </a:tr>
              <a:tr h="4108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26-mar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215459423"/>
                  </a:ext>
                </a:extLst>
              </a:tr>
              <a:tr h="4108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28-mar</a:t>
                      </a:r>
                      <a:endParaRPr lang="es-MX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047125705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37630B65-DA69-7B4F-4494-C9A94E0F2D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979938"/>
              </p:ext>
            </p:extLst>
          </p:nvPr>
        </p:nvGraphicFramePr>
        <p:xfrm>
          <a:off x="4142509" y="964020"/>
          <a:ext cx="3238728" cy="2364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682">
                  <a:extLst>
                    <a:ext uri="{9D8B030D-6E8A-4147-A177-3AD203B41FA5}">
                      <a16:colId xmlns:a16="http://schemas.microsoft.com/office/drawing/2014/main" val="2968541"/>
                    </a:ext>
                  </a:extLst>
                </a:gridCol>
                <a:gridCol w="809682">
                  <a:extLst>
                    <a:ext uri="{9D8B030D-6E8A-4147-A177-3AD203B41FA5}">
                      <a16:colId xmlns:a16="http://schemas.microsoft.com/office/drawing/2014/main" val="2632272940"/>
                    </a:ext>
                  </a:extLst>
                </a:gridCol>
                <a:gridCol w="809682">
                  <a:extLst>
                    <a:ext uri="{9D8B030D-6E8A-4147-A177-3AD203B41FA5}">
                      <a16:colId xmlns:a16="http://schemas.microsoft.com/office/drawing/2014/main" val="1231913460"/>
                    </a:ext>
                  </a:extLst>
                </a:gridCol>
                <a:gridCol w="809682">
                  <a:extLst>
                    <a:ext uri="{9D8B030D-6E8A-4147-A177-3AD203B41FA5}">
                      <a16:colId xmlns:a16="http://schemas.microsoft.com/office/drawing/2014/main" val="56318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b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Id_Consumo</a:t>
                      </a:r>
                      <a:endParaRPr lang="es-MX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Id_Registro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Id_Alimento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b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Cantidad</a:t>
                      </a:r>
                      <a:endParaRPr lang="es-MX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040504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013269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14735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4044797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143283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s-MX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922005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09285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131</TotalTime>
  <Words>622</Words>
  <Application>Microsoft Office PowerPoint</Application>
  <PresentationFormat>Panorámica</PresentationFormat>
  <Paragraphs>449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Trebuchet MS</vt:lpstr>
      <vt:lpstr>Wingdings 3</vt:lpstr>
      <vt:lpstr>Faceta</vt:lpstr>
      <vt:lpstr>Sin  normalizar</vt:lpstr>
      <vt:lpstr> 1. Primera forma normal</vt:lpstr>
      <vt:lpstr>2.Segunda forma normal</vt:lpstr>
      <vt:lpstr>3.Tercera forma normal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AdminSena</dc:creator>
  <cp:lastModifiedBy>AdminSena</cp:lastModifiedBy>
  <cp:revision>3</cp:revision>
  <dcterms:created xsi:type="dcterms:W3CDTF">2026-04-07T14:18:52Z</dcterms:created>
  <dcterms:modified xsi:type="dcterms:W3CDTF">2026-04-09T12:31:33Z</dcterms:modified>
</cp:coreProperties>
</file>